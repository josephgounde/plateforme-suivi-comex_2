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friland-first-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222885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AFRILAND FIRST BANK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Direction des Opérations Internationales (DOI) — DSIRI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PRÉSENTATION DES TRAVAUX RÉALISÉS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Calibri"/>
              </a:rPr>
              <a:t>PDOE — Plateforme de Digitalisation des Opérations avec l'Extérieur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0B0"/>
                </a:solidFill>
                <a:latin typeface="Calibri"/>
              </a:rPr>
              <a:t>Frontend Angular — état d'avancement, démonstration fonctionnelle et alignement backend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4572000"/>
          <a:ext cx="105156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28085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 marL="109728" marT="27432" marB="27432"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v1.0</a:t>
                      </a:r>
                    </a:p>
                  </a:txBody>
                  <a:tcPr marL="109728" marT="27432" marB="27432" anchor="ctr">
                    <a:solidFill>
                      <a:srgbClr val="232323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109728" marT="27432" marB="27432"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Juillet 2026</a:t>
                      </a:r>
                    </a:p>
                  </a:txBody>
                  <a:tcPr marL="109728" marT="27432" marB="27432" anchor="ctr">
                    <a:solidFill>
                      <a:srgbClr val="232323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Statut</a:t>
                      </a:r>
                    </a:p>
                  </a:txBody>
                  <a:tcPr marL="109728" marT="27432" marB="27432"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Frontend fonctionnel sur mock — développement backend .NET en cours</a:t>
                      </a:r>
                    </a:p>
                  </a:txBody>
                  <a:tcPr marL="109728" marT="27432" marB="27432" anchor="ctr">
                    <a:solidFill>
                      <a:srgbClr val="232323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Chef projet DOI</a:t>
                      </a:r>
                    </a:p>
                  </a:txBody>
                  <a:tcPr marL="109728" marT="27432" marB="27432"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M. LAGOU Kramo — Chef de Service COMEX</a:t>
                      </a:r>
                    </a:p>
                  </a:txBody>
                  <a:tcPr marL="109728" marT="27432" marB="27432" anchor="ctr">
                    <a:solidFill>
                      <a:srgbClr val="232323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Chef projet DSI</a:t>
                      </a:r>
                    </a:p>
                  </a:txBody>
                  <a:tcPr marL="109728" marT="27432" marB="27432"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M. Ismael OUATTARA — Chef de Division Développement</a:t>
                      </a:r>
                    </a:p>
                  </a:txBody>
                  <a:tcPr marL="109728" marT="27432" marB="27432" anchor="ctr">
                    <a:solidFill>
                      <a:srgbClr val="232323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Directeur technique</a:t>
                      </a:r>
                    </a:p>
                  </a:txBody>
                  <a:tcPr marL="109728" marT="27432" marB="27432"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M. Aumer SOUFO — Directeur DSIRI</a:t>
                      </a:r>
                    </a:p>
                  </a:txBody>
                  <a:tcPr marL="109728" marT="27432" marB="27432" anchor="ctr">
                    <a:solidFill>
                      <a:srgbClr val="232323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Rédacteur</a:t>
                      </a:r>
                    </a:p>
                  </a:txBody>
                  <a:tcPr marL="109728" marT="27432" marB="27432"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DSIRI — Équipe développement PDOE</a:t>
                      </a:r>
                    </a:p>
                  </a:txBody>
                  <a:tcPr marL="109728" marT="27432" marB="27432" anchor="ctr"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1.  Contexte et périmètre du projet PDOE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2.  Architecture technique et sources de vérité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3.  Authentification et sécurité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4.  Tableaux de bord par profil métier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5.  Gestion des dossiers COMEX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6.  Circuit métier et workflow anti-fractionnement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7.  Création de dossier et vérification de signature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8.  Back-office d'administration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9.  Travaux d'harmonisation de l'interface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10. Alignement du backend — OpenAPI et base de données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11. Bilan d'avancement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Contexte et périmètre du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Rappel du besoin métier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La PDOE digitalise le suivi du circuit COMEX (Commerce Extérieur) d'Afriland First Bank CI.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Workflow hybride : le dossier électronique (PDOE) et le dossier physique papier avancent en parallèle.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7 étapes séquentielles : Initiation → Gestionnaire → Contrôle COMEX → Trésorerie → Exécution → Apurement → Archivage.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À l'étape d'exécution, l'agent COMEX bascule vers ABS2000/SWIFT puis revient déclarer l'exécution dans la PDOE.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7 profils utilisateurs distincts, chacun avec sa propre vue et ses propres droits.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120640" cy="4480560"/>
          </a:xfrm>
          <a:prstGeom prst="roundRect">
            <a:avLst/>
          </a:prstGeom>
          <a:solidFill>
            <a:srgbClr val="F2F2F2"/>
          </a:solidFill>
          <a:ln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500">
                <a:solidFill>
                  <a:srgbClr val="E30B17"/>
                </a:solidFill>
              </a:defRPr>
            </a:pPr>
            <a:r>
              <a:t>Profils couverts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 Agent d'accueil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 Gestionnaire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 Agent COMEX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 Trésorerie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 Direction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 Admin DSIRI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 Super Administrateur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Architecture technique et sources de vérité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Frontend Angular 22 (standalone, lazy-loading par module) entièrement fonctionnel sur une couche mock fidèle au futur contrat API.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Backend .NET en cours de développement en parallèle, avec l'OpenAPI et le script DDL comme référence commune aux deux équipes.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7 stores mock (dossiers, utilisateurs, checklist, workflow, notifications, audit, documents) — architecture prête à basculer vers l'API réelle via un simple indicateur d'environnement.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370332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0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defRPr b="1" sz="1450">
                <a:solidFill>
                  <a:srgbClr val="E30B17"/>
                </a:solidFill>
              </a:defRPr>
            </a:pPr>
            <a:r>
              <a:t>PDOE_openapi.yaml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Contrat API REST — 46 endpoints, 13 modules.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Source de vérité pour le frontend ET le backend .NET.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Version actuelle : v5.6.0.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794760"/>
            <a:ext cx="370332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0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defRPr b="1" sz="1450">
                <a:solidFill>
                  <a:srgbClr val="E30B17"/>
                </a:solidFill>
              </a:defRPr>
            </a:pPr>
            <a:r>
              <a:t>Script DDL — 13 tables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Schéma de base de données SQL Server.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Mis à jour en parallèle de l'OpenAPI pour rester cohérent.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Version actuelle : v5.8.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94760"/>
            <a:ext cx="370332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0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defRPr b="1" sz="1450">
                <a:solidFill>
                  <a:srgbClr val="E30B17"/>
                </a:solidFill>
              </a:defRPr>
            </a:pPr>
            <a:r>
              <a:t>Couche mock Angular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Simule le futur backend .NET.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8 dossiers réalistes, routage de toutes les requêtes HTTP interceptées, calcul des échéances, transitions de statut.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Authentification et 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Connexion LDAP simulée + vérification en deux étapes (OTP)</a:t>
            </a:r>
          </a:p>
        </p:txBody>
      </p:sp>
      <p:pic>
        <p:nvPicPr>
          <p:cNvPr id="9" name="Picture 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6949440" cy="434340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589520" y="1691640"/>
            <a:ext cx="4160520" cy="4434840"/>
          </a:xfrm>
          <a:prstGeom prst="roundRect">
            <a:avLst/>
          </a:prstGeom>
          <a:solidFill>
            <a:srgbClr val="F2F2F2"/>
          </a:solidFill>
          <a:ln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Formulaire de connexion identifiant AD / mot de passe.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Bloc « connexion rapide » réservé à l'environnement de test — un bouton par profil.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Authentification à deux facteurs : code OTP à 6 chiffres envoyé par e-mail avant l'accès à l'application.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10 comptes de démonstration configurés, dont un compte désactivé pour tester ce 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217920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Capture d'écran — environnement de démonstration (pdoe-frontend, mode mock).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Tableaux de bord par profil métier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6 vues dédiées, aiguillées automatiquement selon le profil connecté</a:t>
            </a:r>
          </a:p>
        </p:txBody>
      </p:sp>
      <p:pic>
        <p:nvPicPr>
          <p:cNvPr id="9" name="Picture 8" descr="02_dashboard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77402"/>
            <a:ext cx="5715000" cy="3571875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pic>
        <p:nvPicPr>
          <p:cNvPr id="10" name="Picture 9" descr="05_dashboard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77402"/>
            <a:ext cx="5715000" cy="3571875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20040" y="6172200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Vue Direction — KPI, taux d'apurement, alertes actives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172200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Vue Admin DSIRI — répartition dans le circuit, goulots d'étranglement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Gestion des dossiers COMEX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Liste consultable, filtrable et triable pour l'ensemble du portefeuille</a:t>
            </a:r>
          </a:p>
        </p:txBody>
      </p:sp>
      <p:pic>
        <p:nvPicPr>
          <p:cNvPr id="9" name="Picture 8" descr="03_dossier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6949440" cy="434340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589520" y="1691640"/>
            <a:ext cx="4160520" cy="4434840"/>
          </a:xfrm>
          <a:prstGeom prst="roundRect">
            <a:avLst/>
          </a:prstGeom>
          <a:solidFill>
            <a:srgbClr val="F2F2F2"/>
          </a:solidFill>
          <a:ln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Filtres combinés : texte libre (référence, client, n° compte), statut, type d'opération.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21 statuts de circuit modélisés, avec badge coloré par statut.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Mise en page des tableaux corrigée récemment : plus de débordement horizontal quelle que soit la largeur d'écran.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Accès direct à la fiche dossier via le bouton « Voir 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217920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Capture d'écran — vue « Tous les dossiers », profil Direction.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Circuit métier et workflow anti-fractionnement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Refonte récente : le signalement bascule côté Agent COMEX, à l'étape Exécution</a:t>
            </a:r>
          </a:p>
        </p:txBody>
      </p:sp>
      <p:pic>
        <p:nvPicPr>
          <p:cNvPr id="9" name="Picture 8" descr="04_dossier_fraction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6949440" cy="434340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589520" y="1691640"/>
            <a:ext cx="4160520" cy="4434840"/>
          </a:xfrm>
          <a:prstGeom prst="roundRect">
            <a:avLst/>
          </a:prstGeom>
          <a:solidFill>
            <a:srgbClr val="F2F2F2"/>
          </a:solidFill>
          <a:ln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Le fractionnement n'est détectable que sur la plateforme externe ABS2000/SWIFT, jamais dans la PDOE elle-même.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L'Agent COMEX signale le soupçon au retour de bascule, au lieu de déclarer l'exécution.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Le stepper affiche un état « alerte » dédié (orange) sur l'étape concernée.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Seuls Direction, Admin DSIRI et Super Admin peuvent lever l'alerte ou clôturer définitivement le dossier.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Formalisé dans l'OpenAPI : nouvel endpoint signaler-fractionnement, règles d'autorisation précisées.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217920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Capture d'écran — dossier REF-COMEX-202507-0008, statut « Alerte fractionnement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Création de dossier et vérification de signature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Saisie initiale avec contrôle de signature ABS2000</a:t>
            </a:r>
          </a:p>
        </p:txBody>
      </p:sp>
      <p:pic>
        <p:nvPicPr>
          <p:cNvPr id="9" name="Picture 8" descr="12_dossier_cr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6949440" cy="434340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589520" y="1691640"/>
            <a:ext cx="4160520" cy="4434840"/>
          </a:xfrm>
          <a:prstGeom prst="roundRect">
            <a:avLst/>
          </a:prstGeom>
          <a:solidFill>
            <a:srgbClr val="F2F2F2"/>
          </a:solidFill>
          <a:ln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Formulaire de saisie des informations générales du dossier (client, opération, montant, devise…).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Vérification de signature ABS2000 disponible en 3 modes.</a:t>
            </a:r>
          </a:p>
          <a:p>
            <a:pPr>
              <a:spcAft>
                <a:spcPts val="1000"/>
              </a:spcAft>
              <a:defRPr sz="1300">
                <a:solidFill>
                  <a:srgbClr val="1A1A1A"/>
                </a:solidFill>
              </a:defRPr>
            </a:pPr>
            <a:r>
              <a:t>•  Écran de modification réutilisant le même composant pour les corrections demandées par le gestionnaire.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217920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Capture d'écran — écran de création d'un nouveau dossier COMEX.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Back-office d'administration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Paramétrage du circuit, des modèles de notification et des utilisateurs — sans déploiement</a:t>
            </a:r>
          </a:p>
        </p:txBody>
      </p:sp>
      <p:pic>
        <p:nvPicPr>
          <p:cNvPr id="9" name="Picture 8" descr="06_notification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" y="1600200"/>
            <a:ext cx="3364992" cy="210312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0040" y="3721608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Modèles de notification</a:t>
            </a:r>
          </a:p>
        </p:txBody>
      </p:sp>
      <p:pic>
        <p:nvPicPr>
          <p:cNvPr id="11" name="Picture 10" descr="07_checklist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1600200"/>
            <a:ext cx="3364992" cy="210312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172200" y="3721608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Checklist d'apurement configurable</a:t>
            </a:r>
          </a:p>
        </p:txBody>
      </p:sp>
      <p:pic>
        <p:nvPicPr>
          <p:cNvPr id="13" name="Picture 12" descr="08_workflow_eta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044" y="4069080"/>
            <a:ext cx="3364992" cy="210312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20040" y="6190488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Étapes du circuit — réordonnançables</a:t>
            </a:r>
          </a:p>
        </p:txBody>
      </p:sp>
      <p:pic>
        <p:nvPicPr>
          <p:cNvPr id="15" name="Picture 14" descr="09_utilisate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4069080"/>
            <a:ext cx="3364992" cy="210312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172200" y="6190488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Gestion des utilisateurs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Autres vues métier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Chaque profil dispose d'indicateurs adaptés à son rôle dans le circuit</a:t>
            </a:r>
          </a:p>
        </p:txBody>
      </p:sp>
      <p:pic>
        <p:nvPicPr>
          <p:cNvPr id="9" name="Picture 8" descr="10_dashboard_com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77402"/>
            <a:ext cx="5715000" cy="3571875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pic>
        <p:nvPicPr>
          <p:cNvPr id="10" name="Picture 9" descr="11_dashboard_tresore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77402"/>
            <a:ext cx="5715000" cy="3571875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20040" y="6172200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Vue Agent COMEX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172200"/>
            <a:ext cx="571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Calibri"/>
              </a:rPr>
              <a:t>Vue Trésorerie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Travaux d'harmonisation de l'interface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Chantiers récents, visibles sur l'ensemble des captures précédentes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Unification de la barre latérale : une seule sidebar pour tous les profils (l'ancien composant dédié à l'administration a été supprimé).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Bandeau supérieur revu : logo Afriland First Bank, accroche « Suivi des opérations COMEX », cloche de notifications, menu profil.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Pied de sidebar avec mention de copyright (© année dynamique, Afriland First Bank), aligné sur la charte des documents officiels.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Correction de la mise en page des tableaux (largeurs de colonnes fixes) : élimination du débordement horizontal sur les tableaux de bord Admin et Direction.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Refonte du stepper de circuit pour porter l'état « alerte » dédié au fractionnement (voir diapositive Circuit métier).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Alignement du backend — OpenAPI et base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Le développement .NET avance en parallèle du frontend, sur un contrat commun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OpenAPI (PDOE_openapi.yaml, v5.5.0 → v5.6.0) : nouvel endpoint POST /workflow/{dossierId}/signaler-fractionnement, autorisations précisées sur lever-alerte et rejeter-definitif.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Enum ActionWorkflow complété : SIGNALEMENT_FRACTIONNEMENT et REJET_DEFINITIF, pour couvrir les deux nouvelles actions du circuit.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Script DDL (v5.7 → v5.8) : nouveau modèle de notification DOSSIER_FRACTIONNEMENT, texte identique à celui déjà utilisé côté mock frontend.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51960"/>
            <a:ext cx="11247120" cy="1920240"/>
          </a:xfrm>
          <a:prstGeom prst="roundRect">
            <a:avLst/>
          </a:prstGeom>
          <a:solidFill>
            <a:srgbClr val="FCECEC"/>
          </a:solidFill>
          <a:ln>
            <a:solidFill>
              <a:srgbClr val="E30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b="1" sz="1400">
                <a:solidFill>
                  <a:srgbClr val="E30B17"/>
                </a:solidFill>
              </a:defRPr>
            </a:pPr>
            <a:r>
              <a:t>Aucun changement de schéma n'était nécessaire pour les nouvelles actions de workflow</a:t>
            </a:r>
          </a:p>
          <a:p>
            <a:pPr>
              <a:spcBef>
                <a:spcPts val="1000"/>
              </a:spcBef>
              <a:defRPr sz="1300">
                <a:solidFill>
                  <a:srgbClr val="1A1A1A"/>
                </a:solidFill>
              </a:defRPr>
            </a:pPr>
            <a:r>
              <a:t>La colonne EtapesWorkflow.Action est une chaîne libre (NVARCHAR(30)), validée uniquement au niveau API — pas de contrainte CHECK à modifier. De même, les droits par profil (Direction/Admin/Super Admin) ne sont représentés qu'au niveau applicatif, sans table de matrice de permissions en 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Bilan d'avancement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Périmètre livré, en cours et à venir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3794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b="1" sz="1600">
                <a:solidFill>
                  <a:srgbClr val="1E7A34"/>
                </a:solidFill>
              </a:defRPr>
            </a:pPr>
            <a:r>
              <a:t>Réalisé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Authentification, OTP, 7 profils, routage par rôle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Cycle de vie complet du dossier COMEX (création, circuit, apurement)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Workflow anti-fractionnement redessiné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Back-office d'administration complet (7 écrans de paramétrage)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Couche mock fidèle au contrat API — 46 endpoints simulés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OpenAPI et DDL tenus à jour en parallèle du développement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794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b="1" sz="1600">
                <a:solidFill>
                  <a:srgbClr val="C96A0A"/>
                </a:solidFill>
              </a:defRPr>
            </a:pPr>
            <a:r>
              <a:t>En cours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Développement du backend .NET (PDOE.Gateway et services associés)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Bascule progressive du frontend du mock vers l'API réelle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91640"/>
            <a:ext cx="3794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b="1" sz="1600">
                <a:solidFill>
                  <a:srgbClr val="5A5A5A"/>
                </a:solidFill>
              </a:defRPr>
            </a:pPr>
            <a:r>
              <a:t>À venir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Module Reporting (dossier prévu, non implémenté)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Module Exécution dédié (dossier prévu, non implémenté)</a:t>
            </a:r>
          </a:p>
          <a:p>
            <a:pPr>
              <a:spcBef>
                <a:spcPts val="1000"/>
              </a:spcBef>
              <a:defRPr sz="1250">
                <a:solidFill>
                  <a:srgbClr val="1A1A1A"/>
                </a:solidFill>
              </a:defRPr>
            </a:pPr>
            <a:r>
              <a:t>•  Alignement de l'enum frontend ActionWorkflow avec REJET_DEFINITIF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PDOE — Présentation des travaux réalisés —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5375" y="0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>
                <a:solidFill>
                  <a:srgbClr val="CCCCCC"/>
                </a:solidFill>
                <a:latin typeface="Calibri"/>
              </a:defRPr>
            </a:pPr>
            <a:r>
              <a:t>AfrilandFirstBank CI — DSIRI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Confidentiel — Usage interne AFBCI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Page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Prochaines étapes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Poursuivre le développement du backend .NET en s'appuyant sur l'OpenAPI v5.6.0 et le DDL v5.8 comme références.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Basculer progressivement les modules frontend du mock vers l'API réelle, module par module.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Compléter l'enum ActionWorkflow côté frontend (REJET_DEFINITIF) pour une cohérence totale avec le contrat API.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Cadrer et démarrer les modules Reporting et Exécution, actuellement réservés mais non implémentés.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Poursuivre le suivi conjoint OpenAPI / DDL à chaque évolution fonctionnelle, côté frontend comme côté backend.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friland-first-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7440"/>
            <a:ext cx="252603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PDOE — Plateforme de Digitalisation des Opérations avec l'Extérieur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99"/>
                </a:solidFill>
                <a:latin typeface="Calibri"/>
              </a:rPr>
              <a:t>Direction des Opérations Internationales (DOI) — DSIRI — Confidentiel, usage interne AFBCI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