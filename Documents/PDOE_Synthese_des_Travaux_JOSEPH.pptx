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43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241414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C8102E">
              <a:alpha val="18000"/>
            </a:srgbClr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8778240" y="4206240"/>
            <a:ext cx="3291840" cy="3291840"/>
          </a:xfrm>
          <a:prstGeom prst="ellipse">
            <a:avLst/>
          </a:prstGeom>
          <a:solidFill>
            <a:srgbClr val="C8102E">
              <a:alpha val="14000"/>
            </a:srgbClr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5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237744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AFRILAND FIRST BANK CI — DRT / DSIRI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2697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Digitalisation des Opérations avec l'Extérieur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travaux réalisés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892040"/>
            <a:ext cx="29260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 2026</a:t>
            </a:r>
            <a:r>
              <a:rPr lang="en-US" sz="12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Frontend Angular fonctionnel — développement backend .NET en cours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 AFBCI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Digitaliser le suivi du circuit COMEX, sans remplacer l'existant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5" name="Image 0" descr="/home/claude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477317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PDOE orchestre les validations et trace les contrôles du circuit Commerce Extérieur, en s'appuyant sur un principe simple : le dossier électronique et le dossier physique avancent en parallèle, sans jamais se substituer à ABS2000/SWIFT.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8" name="Text 5"/>
          <p:cNvSpPr/>
          <p:nvPr/>
        </p:nvSpPr>
        <p:spPr>
          <a:xfrm>
            <a:off x="822960" y="256946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chaque étape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7121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Historiser chaque validation, chaque rejet et son responsable, du dépôt du dossier à l'archivage.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639312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822960" y="346557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Fiabiliser les délais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76732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alertes de fluidité interne et les échéances réglementaires d'apurement.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535424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4" name="Text 11"/>
          <p:cNvSpPr/>
          <p:nvPr/>
        </p:nvSpPr>
        <p:spPr>
          <a:xfrm>
            <a:off x="822960" y="436168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une vision transversale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663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à la Direction une lecture en temps réel du portefeuille, tous profils confondus.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06640" y="1508760"/>
            <a:ext cx="4251960" cy="4709160"/>
          </a:xfrm>
          <a:prstGeom prst="roundRect">
            <a:avLst>
              <a:gd name="adj" fmla="val 172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7" name="Text 14"/>
          <p:cNvSpPr/>
          <p:nvPr/>
        </p:nvSpPr>
        <p:spPr>
          <a:xfrm>
            <a:off x="768096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en 7 étapes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80960" y="224028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Text 16"/>
          <p:cNvSpPr/>
          <p:nvPr/>
        </p:nvSpPr>
        <p:spPr>
          <a:xfrm>
            <a:off x="7680960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225856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845552" y="2587752"/>
            <a:ext cx="0" cy="201168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fr-CM"/>
          </a:p>
        </p:txBody>
      </p:sp>
      <p:sp>
        <p:nvSpPr>
          <p:cNvPr id="22" name="Shape 19"/>
          <p:cNvSpPr/>
          <p:nvPr/>
        </p:nvSpPr>
        <p:spPr>
          <a:xfrm>
            <a:off x="7680960" y="2807208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3" name="Text 20"/>
          <p:cNvSpPr/>
          <p:nvPr/>
        </p:nvSpPr>
        <p:spPr>
          <a:xfrm>
            <a:off x="7680960" y="2807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38160" y="282549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845552" y="3154680"/>
            <a:ext cx="0" cy="201168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fr-CM"/>
          </a:p>
        </p:txBody>
      </p:sp>
      <p:sp>
        <p:nvSpPr>
          <p:cNvPr id="26" name="Shape 23"/>
          <p:cNvSpPr/>
          <p:nvPr/>
        </p:nvSpPr>
        <p:spPr>
          <a:xfrm>
            <a:off x="7680960" y="3374136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7" name="Text 24"/>
          <p:cNvSpPr/>
          <p:nvPr/>
        </p:nvSpPr>
        <p:spPr>
          <a:xfrm>
            <a:off x="7680960" y="3374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138160" y="3392424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COMEX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845552" y="3721608"/>
            <a:ext cx="0" cy="201168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fr-CM"/>
          </a:p>
        </p:txBody>
      </p:sp>
      <p:sp>
        <p:nvSpPr>
          <p:cNvPr id="30" name="Shape 27"/>
          <p:cNvSpPr/>
          <p:nvPr/>
        </p:nvSpPr>
        <p:spPr>
          <a:xfrm>
            <a:off x="7680960" y="3941064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1" name="Text 28"/>
          <p:cNvSpPr/>
          <p:nvPr/>
        </p:nvSpPr>
        <p:spPr>
          <a:xfrm>
            <a:off x="7680960" y="3941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138160" y="395935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845552" y="4288536"/>
            <a:ext cx="0" cy="201168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fr-CM"/>
          </a:p>
        </p:txBody>
      </p:sp>
      <p:sp>
        <p:nvSpPr>
          <p:cNvPr id="34" name="Shape 31"/>
          <p:cNvSpPr/>
          <p:nvPr/>
        </p:nvSpPr>
        <p:spPr>
          <a:xfrm>
            <a:off x="7680960" y="4507992"/>
            <a:ext cx="329184" cy="329184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5" name="Text 32"/>
          <p:cNvSpPr/>
          <p:nvPr/>
        </p:nvSpPr>
        <p:spPr>
          <a:xfrm>
            <a:off x="7680960" y="4507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138160" y="452628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SuiviTransfert (ABS2000/SWIFT)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845552" y="4855464"/>
            <a:ext cx="0" cy="201168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fr-CM"/>
          </a:p>
        </p:txBody>
      </p:sp>
      <p:sp>
        <p:nvSpPr>
          <p:cNvPr id="38" name="Shape 35"/>
          <p:cNvSpPr/>
          <p:nvPr/>
        </p:nvSpPr>
        <p:spPr>
          <a:xfrm>
            <a:off x="7680960" y="507492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9" name="Text 36"/>
          <p:cNvSpPr/>
          <p:nvPr/>
        </p:nvSpPr>
        <p:spPr>
          <a:xfrm>
            <a:off x="7680960" y="5074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138160" y="50932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Apurement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845552" y="5422392"/>
            <a:ext cx="0" cy="201168"/>
          </a:xfrm>
          <a:prstGeom prst="line">
            <a:avLst/>
          </a:prstGeom>
          <a:noFill/>
          <a:ln w="12700">
            <a:solidFill>
              <a:srgbClr val="595959"/>
            </a:solidFill>
            <a:prstDash val="dash"/>
          </a:ln>
        </p:spPr>
        <p:txBody>
          <a:bodyPr/>
          <a:lstStyle/>
          <a:p>
            <a:endParaRPr lang="fr-CM"/>
          </a:p>
        </p:txBody>
      </p:sp>
      <p:sp>
        <p:nvSpPr>
          <p:cNvPr id="42" name="Shape 39"/>
          <p:cNvSpPr/>
          <p:nvPr/>
        </p:nvSpPr>
        <p:spPr>
          <a:xfrm>
            <a:off x="7680960" y="5641848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3" name="Text 40"/>
          <p:cNvSpPr/>
          <p:nvPr/>
        </p:nvSpPr>
        <p:spPr>
          <a:xfrm>
            <a:off x="7680960" y="5641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38160" y="566013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Synthèse des travaux réalisés · AfrilandFirstBank CI — DSIRI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ANALYSE DE L'EXISTANT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circuit aujourd'hui réel, mais non outillé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777240" cy="777240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5" name="Image 0" descr="/home/claude/icon_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477317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la PDOE, le circuit COMEX repose sur deux flux distincts qui ne communiquent pas entre eux :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SYSTÈME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6334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ABS2000 / SWIFT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3273552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1115568" y="31455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signature et exécution des opérations.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895344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3" name="Text 10"/>
          <p:cNvSpPr/>
          <p:nvPr/>
        </p:nvSpPr>
        <p:spPr>
          <a:xfrm>
            <a:off x="1115568" y="37673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bancaire central (CBS), non modifiable.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517136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2"/>
          <p:cNvSpPr/>
          <p:nvPr/>
        </p:nvSpPr>
        <p:spPr>
          <a:xfrm>
            <a:off x="1115568" y="4389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sur les étapes de validation en amont.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214884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7" name="Text 14"/>
          <p:cNvSpPr/>
          <p:nvPr/>
        </p:nvSpPr>
        <p:spPr>
          <a:xfrm>
            <a:off x="653796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PHYSIQUE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26334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 papier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537960" y="3273552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0" name="Text 17"/>
          <p:cNvSpPr/>
          <p:nvPr/>
        </p:nvSpPr>
        <p:spPr>
          <a:xfrm>
            <a:off x="6784848" y="31455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manuelle entre 7 profils métier.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537960" y="3895344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2" name="Text 19"/>
          <p:cNvSpPr/>
          <p:nvPr/>
        </p:nvSpPr>
        <p:spPr>
          <a:xfrm>
            <a:off x="6784848" y="37673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(Gestionnaire, COMEX, Trésorerie) tracés sur papier.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37960" y="4517136"/>
            <a:ext cx="82296" cy="82296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4" name="Text 21"/>
          <p:cNvSpPr/>
          <p:nvPr/>
        </p:nvSpPr>
        <p:spPr>
          <a:xfrm>
            <a:off x="6784848" y="4389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Apurement suivi hors système, via relances manuelles.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deux flux parallèles, aucune passerelle de suivi commune entre eux.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Synthèse des travaux réalisés · AfrilandFirstBank CI — DSIRI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PROBLÈME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zones de risque identifiées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5" name="Image 0" descr="/home/claude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477317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64008" cy="13716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fragmentée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130552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unique des validations successives ni du responsable désigné en cas de rejet.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64008" cy="13716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2" name="Text 9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Fractionnement difficile à détecter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2130552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n'est visible qu'au niveau d'ABS2000/SWIFT, jamais en amont du circuit.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72968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Shape 12"/>
          <p:cNvSpPr/>
          <p:nvPr/>
        </p:nvSpPr>
        <p:spPr>
          <a:xfrm>
            <a:off x="548640" y="3172968"/>
            <a:ext cx="64008" cy="13716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6" name="Text 13"/>
          <p:cNvSpPr/>
          <p:nvPr/>
        </p:nvSpPr>
        <p:spPr>
          <a:xfrm>
            <a:off x="822960" y="3310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d'apurement non pilotés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37033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J-14, mise en demeure J-8 et déclaration BCEAO suivies manuellement — risque de dépassement réglementaire.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172968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Shape 16"/>
          <p:cNvSpPr/>
          <p:nvPr/>
        </p:nvSpPr>
        <p:spPr>
          <a:xfrm>
            <a:off x="6263640" y="3172968"/>
            <a:ext cx="64008" cy="13716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0" name="Text 17"/>
          <p:cNvSpPr/>
          <p:nvPr/>
        </p:nvSpPr>
        <p:spPr>
          <a:xfrm>
            <a:off x="6537960" y="3310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transversale absente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37960" y="37033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ne dispose d'aucun indicateur consolidé sur les goulots d'étranglement du portefeuille.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745736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3" name="Shape 20"/>
          <p:cNvSpPr/>
          <p:nvPr/>
        </p:nvSpPr>
        <p:spPr>
          <a:xfrm>
            <a:off x="548640" y="4745736"/>
            <a:ext cx="64008" cy="13716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4" name="Text 21"/>
          <p:cNvSpPr/>
          <p:nvPr/>
        </p:nvSpPr>
        <p:spPr>
          <a:xfrm>
            <a:off x="822960" y="48828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réglementaire chronophage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" y="5276088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Restitutions BCEAO / DGI / Douanes reconstituées manuellement, dossier par dossier.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Synthèse des travaux réalisés · AfrilandFirstBank CI — DSIRI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SOLUTION APPORTÉE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dédiée, alignée sur un contrat commun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5" name="Image 0" descr="/home/claude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477317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9344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7" name="Text 4"/>
          <p:cNvSpPr/>
          <p:nvPr/>
        </p:nvSpPr>
        <p:spPr>
          <a:xfrm>
            <a:off x="868680" y="144475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digitalisé : les 7 étapes et 7 profils métier sont désormais tracés dans une seule plateforme, sans se substituer à ABS2000/SWIFT.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05456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9" name="Text 6"/>
          <p:cNvSpPr/>
          <p:nvPr/>
        </p:nvSpPr>
        <p:spPr>
          <a:xfrm>
            <a:off x="868680" y="234086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anti-fractionnement repensé : signalement dédié par l'Agent COMEX, alerte visible sur le stepper, levée réservée à la Direction / Admin.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868680" y="323697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d'apurement automatisées (J-14, J-8, J=0) et tableaux de bord par profil pour une vision transversale immédiate.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128016" cy="128016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3" name="Text 10"/>
          <p:cNvSpPr/>
          <p:nvPr/>
        </p:nvSpPr>
        <p:spPr>
          <a:xfrm>
            <a:off x="868680" y="413308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+ script DDL comme source de vérité unique, partagée entre le frontend Angular et le backend .NET en cours de développement.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95160" y="1536192"/>
            <a:ext cx="4617720" cy="2331720"/>
          </a:xfrm>
          <a:prstGeom prst="roundRect">
            <a:avLst>
              <a:gd name="adj" fmla="val 235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15" name="Image 1" descr="/home/claude/shot_dash_dir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45920"/>
            <a:ext cx="4343400" cy="21214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39136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vue Direction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995160" y="4251960"/>
            <a:ext cx="4617720" cy="1965960"/>
          </a:xfrm>
          <a:prstGeom prst="roundRect">
            <a:avLst>
              <a:gd name="adj" fmla="val 279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18" name="Image 2" descr="/home/claude/shot_fractionne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352544"/>
            <a:ext cx="4343400" cy="17556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614476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fractionnement — circuit métier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Synthèse des travaux réalisés · AfrilandFirstBank CI — DSIRI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BILAN D'AVANCEMENT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livré, en cours et à venir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384048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5" name="Image 0" descr="/home/claude/icon_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477317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7A34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8" name="Image 1" descr="/home/claude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1843430"/>
            <a:ext cx="382219" cy="382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Réalisé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41248" y="2578608"/>
            <a:ext cx="73152" cy="73152"/>
          </a:xfrm>
          <a:prstGeom prst="ellipse">
            <a:avLst/>
          </a:prstGeom>
          <a:solidFill>
            <a:srgbClr val="1E7A34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7"/>
          <p:cNvSpPr/>
          <p:nvPr/>
        </p:nvSpPr>
        <p:spPr>
          <a:xfrm>
            <a:off x="1051560" y="24414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LDAP + OTP, 7 profils, routage par rôle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41248" y="3328416"/>
            <a:ext cx="73152" cy="73152"/>
          </a:xfrm>
          <a:prstGeom prst="ellipse">
            <a:avLst/>
          </a:prstGeom>
          <a:solidFill>
            <a:srgbClr val="1E7A34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3" name="Text 9"/>
          <p:cNvSpPr/>
          <p:nvPr/>
        </p:nvSpPr>
        <p:spPr>
          <a:xfrm>
            <a:off x="1051560" y="319125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complet du dossier COMEX (création → apurement)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41248" y="4078224"/>
            <a:ext cx="73152" cy="73152"/>
          </a:xfrm>
          <a:prstGeom prst="ellipse">
            <a:avLst/>
          </a:prstGeom>
          <a:solidFill>
            <a:srgbClr val="1E7A34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1"/>
          <p:cNvSpPr/>
          <p:nvPr/>
        </p:nvSpPr>
        <p:spPr>
          <a:xfrm>
            <a:off x="1051560" y="394106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anti-fractionnement redessiné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41248" y="4828032"/>
            <a:ext cx="73152" cy="73152"/>
          </a:xfrm>
          <a:prstGeom prst="ellipse">
            <a:avLst/>
          </a:prstGeom>
          <a:solidFill>
            <a:srgbClr val="1E7A34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7" name="Text 13"/>
          <p:cNvSpPr/>
          <p:nvPr/>
        </p:nvSpPr>
        <p:spPr>
          <a:xfrm>
            <a:off x="1051560" y="46908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d'administration complet (7 écrans)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41248" y="5577840"/>
            <a:ext cx="73152" cy="73152"/>
          </a:xfrm>
          <a:prstGeom prst="ellipse">
            <a:avLst/>
          </a:prstGeom>
          <a:solidFill>
            <a:srgbClr val="1E7A34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Text 15"/>
          <p:cNvSpPr/>
          <p:nvPr/>
        </p:nvSpPr>
        <p:spPr>
          <a:xfrm>
            <a:off x="1051560" y="5440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fidèle au contrat API — 46 endpoints simulés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389120" y="155448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1" name="Shape 17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22" name="Image 2" descr="/home/claude/icon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90" y="1843430"/>
            <a:ext cx="382219" cy="38221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cours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4681728" y="2578608"/>
            <a:ext cx="73152" cy="73152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5" name="Text 20"/>
          <p:cNvSpPr/>
          <p:nvPr/>
        </p:nvSpPr>
        <p:spPr>
          <a:xfrm>
            <a:off x="4892040" y="24414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backend .NET (Gateway et services, 5 modules sur 11 déjà réalisé)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681728" y="3328416"/>
            <a:ext cx="73152" cy="73152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7" name="Text 22"/>
          <p:cNvSpPr/>
          <p:nvPr/>
        </p:nvSpPr>
        <p:spPr>
          <a:xfrm>
            <a:off x="4892040" y="319125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progressive du frontend, du mock vers l'API réelle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229600" y="155448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29" name="Shape 24"/>
          <p:cNvSpPr/>
          <p:nvPr/>
        </p:nvSpPr>
        <p:spPr>
          <a:xfrm>
            <a:off x="8503920" y="17830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30" name="Image 3" descr="/home/claude/icon_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70" y="1843430"/>
            <a:ext cx="382219" cy="38221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4400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venir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8522208" y="2578608"/>
            <a:ext cx="73152" cy="73152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3" name="Text 27"/>
          <p:cNvSpPr/>
          <p:nvPr/>
        </p:nvSpPr>
        <p:spPr>
          <a:xfrm>
            <a:off x="8732520" y="24414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Reporting (dossier prévu, non implémenté)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522208" y="3328416"/>
            <a:ext cx="73152" cy="73152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5" name="Text 29"/>
          <p:cNvSpPr/>
          <p:nvPr/>
        </p:nvSpPr>
        <p:spPr>
          <a:xfrm>
            <a:off x="8732520" y="319125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Exécution dédié (dossier prévu, non implémenté)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8522208" y="4078224"/>
            <a:ext cx="73152" cy="73152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7" name="Text 31"/>
          <p:cNvSpPr/>
          <p:nvPr/>
        </p:nvSpPr>
        <p:spPr>
          <a:xfrm>
            <a:off x="8732520" y="394106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enum ActionWorkflow (REJET_DEFINITIF)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Synthèse des travaux réalisés · AfrilandFirstBank CI — DSIRI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754880" cy="4754880"/>
          </a:xfrm>
          <a:prstGeom prst="ellipse">
            <a:avLst/>
          </a:prstGeom>
          <a:solidFill>
            <a:srgbClr val="C8102E">
              <a:alpha val="16000"/>
            </a:srgbClr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54480"/>
            <a:ext cx="237744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5146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32461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Plateforme de Digitalisation des Opérations avec l'Extérieur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166360" y="3794760"/>
            <a:ext cx="182880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7" name="Text 4"/>
          <p:cNvSpPr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Resources et de la Trésorerie (DRT) — DSIRI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 AFBCI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PDOE — Synthèse des travaux réalisés · AfrilandFirstBank CI — DSIRI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739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Gounde</cp:lastModifiedBy>
  <cp:revision>2</cp:revision>
  <dcterms:created xsi:type="dcterms:W3CDTF">2026-07-18T04:44:43Z</dcterms:created>
  <dcterms:modified xsi:type="dcterms:W3CDTF">2026-07-18T06:08:47Z</dcterms:modified>
</cp:coreProperties>
</file>